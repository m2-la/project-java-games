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Bold" charset="1" panose="020B0806030504020204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84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69246" y="4274503"/>
            <a:ext cx="1034950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Super Mario Bros.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68" y="933450"/>
            <a:ext cx="842514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Fiche technique – Super Mario Bros 2D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01713" y="3200975"/>
            <a:ext cx="12800148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Titre du jeu : Super Mario Bros 2D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ort : PC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Périphérique : Clavier / Souris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Genre : Plateforme / Aventure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 joueur : Solo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 cible : Tout public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Cœur de cible : Enfants et adolescents (8 – 16 ans)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PEGI : 8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40" y="933450"/>
            <a:ext cx="12774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4350" y="1753870"/>
            <a:ext cx="172593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"Un hommage moderne à Super Mario Bros combinant plateforme et réflexion, intégralement développé en Java 2D, où chaque niveau devient une énigme à résoudre."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577405"/>
            <a:ext cx="1828800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Reproduction fidèle du gameplay classique de Super Mario Bros : sauts, collisions, ennemis, power-ups.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100 % Java : moteur, affichage, physique et logique du jeu entièrement développés sans moteur externe.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Style graphique rétro 8-bit, respectant l’esthétique originale.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modulaire (POO) permettant d’ajouter facilement de nouveaux niveaux, ennemis ou objets.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Optimisé pour jouer sur PC, avec contrôles fluides et réactifs.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21681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KSP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7442" y="2064386"/>
            <a:ext cx="14576410" cy="381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8434" indent="-389217" lvl="1">
              <a:lnSpc>
                <a:spcPts val="5047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Fidèle à l’original : gameplay et univers emblématiques de Mario.</a:t>
            </a:r>
          </a:p>
          <a:p>
            <a:pPr algn="ctr" marL="778434" indent="-389217" lvl="1">
              <a:lnSpc>
                <a:spcPts val="5047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100 % Java 2D : moteur maison, architecture orientée objet.</a:t>
            </a:r>
          </a:p>
          <a:p>
            <a:pPr algn="ctr" marL="778434" indent="-389217" lvl="1">
              <a:lnSpc>
                <a:spcPts val="5047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Graphismes rétro : pixel art et bande-son 8-bit.</a:t>
            </a:r>
          </a:p>
          <a:p>
            <a:pPr algn="ctr" marL="778434" indent="-389217" lvl="1">
              <a:lnSpc>
                <a:spcPts val="5047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Gameplay fluide : contrôles précis et réactifs sur </a:t>
            </a:r>
            <a:r>
              <a:rPr lang="en-US" sz="36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PC.</a:t>
            </a:r>
          </a:p>
          <a:p>
            <a:pPr algn="ctr" marL="778434" indent="-389217" lvl="1">
              <a:lnSpc>
                <a:spcPts val="5047"/>
              </a:lnSpc>
              <a:buFont typeface="Arial"/>
              <a:buChar char="•"/>
            </a:pPr>
            <a:r>
              <a:rPr lang="en-US" sz="360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Accessible à tous : PEGI 8, facile à prendre en main.</a:t>
            </a:r>
          </a:p>
          <a:p>
            <a:pPr algn="ctr">
              <a:lnSpc>
                <a:spcPts val="50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4231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Intentions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892" y="2422168"/>
            <a:ext cx="17259300" cy="635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Recréer l’expérience classique de Super Mario Bros en version 2D sur PC.</a:t>
            </a:r>
          </a:p>
          <a:p>
            <a:pPr algn="ctr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Offrir un gameplay fluide et amusant, avec sauts, ennemis, power-ups et défis progressifs.</a:t>
            </a:r>
          </a:p>
          <a:p>
            <a:pPr algn="ctr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Apprendre et démontrer les concepts de programmation orientée objet (héritage, polymorphisme, encapsulation) dans un projet complet.</a:t>
            </a:r>
          </a:p>
          <a:p>
            <a:pPr algn="ctr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Créer un projet accessible à tous, adapté aux jeunes joueurs (PEG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8), tout en restant fidèle à l’esthétique rétro.</a:t>
            </a:r>
          </a:p>
          <a:p>
            <a:pPr algn="ctr" marL="777248" indent="-388624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Fournir une base évolutive, permettant d’ajouter facilement de nouveaux niveaux, ennemis et fonctionnalités.</a:t>
            </a:r>
          </a:p>
          <a:p>
            <a:pPr algn="ctr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6529" y="7710593"/>
            <a:ext cx="1455137" cy="1374296"/>
          </a:xfrm>
          <a:custGeom>
            <a:avLst/>
            <a:gdLst/>
            <a:ahLst/>
            <a:cxnLst/>
            <a:rect r="r" b="b" t="t" l="l"/>
            <a:pathLst>
              <a:path h="1374296" w="1455137">
                <a:moveTo>
                  <a:pt x="0" y="0"/>
                </a:moveTo>
                <a:lnTo>
                  <a:pt x="1455138" y="0"/>
                </a:lnTo>
                <a:lnTo>
                  <a:pt x="1455138" y="1374296"/>
                </a:lnTo>
                <a:lnTo>
                  <a:pt x="0" y="1374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4976" y="7735221"/>
            <a:ext cx="1701478" cy="1523079"/>
          </a:xfrm>
          <a:custGeom>
            <a:avLst/>
            <a:gdLst/>
            <a:ahLst/>
            <a:cxnLst/>
            <a:rect r="r" b="b" t="t" l="l"/>
            <a:pathLst>
              <a:path h="1523079" w="1701478">
                <a:moveTo>
                  <a:pt x="0" y="0"/>
                </a:moveTo>
                <a:lnTo>
                  <a:pt x="1701478" y="0"/>
                </a:lnTo>
                <a:lnTo>
                  <a:pt x="1701478" y="1523079"/>
                </a:lnTo>
                <a:lnTo>
                  <a:pt x="0" y="1523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25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36054" y="0"/>
            <a:ext cx="5430000" cy="10107661"/>
          </a:xfrm>
          <a:custGeom>
            <a:avLst/>
            <a:gdLst/>
            <a:ahLst/>
            <a:cxnLst/>
            <a:rect r="r" b="b" t="t" l="l"/>
            <a:pathLst>
              <a:path h="10107661" w="5430000">
                <a:moveTo>
                  <a:pt x="0" y="0"/>
                </a:moveTo>
                <a:lnTo>
                  <a:pt x="5430000" y="0"/>
                </a:lnTo>
                <a:lnTo>
                  <a:pt x="5430000" y="10107661"/>
                </a:lnTo>
                <a:lnTo>
                  <a:pt x="0" y="10107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89" r="0" b="-318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05261" y="1028700"/>
            <a:ext cx="5896511" cy="3235710"/>
          </a:xfrm>
          <a:custGeom>
            <a:avLst/>
            <a:gdLst/>
            <a:ahLst/>
            <a:cxnLst/>
            <a:rect r="r" b="b" t="t" l="l"/>
            <a:pathLst>
              <a:path h="3235710" w="5896511">
                <a:moveTo>
                  <a:pt x="0" y="0"/>
                </a:moveTo>
                <a:lnTo>
                  <a:pt x="5896511" y="0"/>
                </a:lnTo>
                <a:lnTo>
                  <a:pt x="5896511" y="3235710"/>
                </a:lnTo>
                <a:lnTo>
                  <a:pt x="0" y="3235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7824" y="1654916"/>
            <a:ext cx="3959307" cy="4949134"/>
          </a:xfrm>
          <a:custGeom>
            <a:avLst/>
            <a:gdLst/>
            <a:ahLst/>
            <a:cxnLst/>
            <a:rect r="r" b="b" t="t" l="l"/>
            <a:pathLst>
              <a:path h="4949134" w="3959307">
                <a:moveTo>
                  <a:pt x="0" y="0"/>
                </a:moveTo>
                <a:lnTo>
                  <a:pt x="3959307" y="0"/>
                </a:lnTo>
                <a:lnTo>
                  <a:pt x="3959307" y="4949134"/>
                </a:lnTo>
                <a:lnTo>
                  <a:pt x="0" y="4949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6000" y="7782163"/>
            <a:ext cx="1701478" cy="1701478"/>
          </a:xfrm>
          <a:custGeom>
            <a:avLst/>
            <a:gdLst/>
            <a:ahLst/>
            <a:cxnLst/>
            <a:rect r="r" b="b" t="t" l="l"/>
            <a:pathLst>
              <a:path h="1701478" w="1701478">
                <a:moveTo>
                  <a:pt x="0" y="0"/>
                </a:moveTo>
                <a:lnTo>
                  <a:pt x="1701478" y="0"/>
                </a:lnTo>
                <a:lnTo>
                  <a:pt x="1701478" y="1701478"/>
                </a:lnTo>
                <a:lnTo>
                  <a:pt x="0" y="1701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05261" y="5548390"/>
            <a:ext cx="1717929" cy="1717929"/>
          </a:xfrm>
          <a:custGeom>
            <a:avLst/>
            <a:gdLst/>
            <a:ahLst/>
            <a:cxnLst/>
            <a:rect r="r" b="b" t="t" l="l"/>
            <a:pathLst>
              <a:path h="1717929" w="1717929">
                <a:moveTo>
                  <a:pt x="0" y="0"/>
                </a:moveTo>
                <a:lnTo>
                  <a:pt x="1717929" y="0"/>
                </a:lnTo>
                <a:lnTo>
                  <a:pt x="1717929" y="1717929"/>
                </a:lnTo>
                <a:lnTo>
                  <a:pt x="0" y="17179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81267" y="5548390"/>
            <a:ext cx="2657372" cy="2637477"/>
          </a:xfrm>
          <a:custGeom>
            <a:avLst/>
            <a:gdLst/>
            <a:ahLst/>
            <a:cxnLst/>
            <a:rect r="r" b="b" t="t" l="l"/>
            <a:pathLst>
              <a:path h="2637477" w="2657372">
                <a:moveTo>
                  <a:pt x="0" y="0"/>
                </a:moveTo>
                <a:lnTo>
                  <a:pt x="2657372" y="0"/>
                </a:lnTo>
                <a:lnTo>
                  <a:pt x="2657372" y="2637477"/>
                </a:lnTo>
                <a:lnTo>
                  <a:pt x="0" y="26374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868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7824" y="141605"/>
            <a:ext cx="427863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Fakes Screen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252872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80193"/>
            <a:ext cx="14852036" cy="47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Cadre : Royaume Champignon, avec des environnements variés (plaines, châteaux, forêts, mondes souterrains).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Ambiance : Colorée, joyeuse et dynamique, fidèle à l’esprit rétro du jeu original.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Décors : Plateformes, blocs interactifs, tuyaux, drapeaux de fin de niveau.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Personnages : Mario (héros), ennemis emblématiques (Goombas, Koopas), power-ups et princesse Peach.</a:t>
            </a:r>
          </a:p>
          <a:p>
            <a:pPr algn="ctr" marL="647711" indent="-323856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Bande-son : Musique 8-bit rétro et effets sonores classiques pour sauts, pièces et power-ups.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26580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Narration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4254" y="2682112"/>
            <a:ext cx="16479491" cy="409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Mario super Aymen est un plombier courageux, vit paisiblement au Royaume Champignon.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 jour, la princesse Peach est enlevée par le terrible Bowser, roi des Koopas.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Mario se lance alors dans une grande aventure à travers différents mondes remplis d’ennemis et d’obstacles.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Son objectif : sauver la princesse et ramener la paix au royaume.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Chaque nive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 représente une étape de son voyage, jusqu’à l’affrontement final contre Bowser dans son château.</a:t>
            </a:r>
          </a:p>
          <a:p>
            <a:pPr algn="ctr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323" y="933450"/>
            <a:ext cx="36768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Look &amp; feel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6068" y="2547955"/>
            <a:ext cx="18288000" cy="592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ok :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Style rétro 8-bit fidèle à l’univers original de Super Mario Bros.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Graphismes simples, colorés et contrastés, avec des décors variés : plaines vertes, châteaux, cavernes et mondes aquatiques.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Interface claire et minimaliste : compteur de vies, score, pièces et temps affichés à l’écran.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Feel :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Sensation de nostalgie et de dynamisme.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Gameplay fluide, réactif et satisfaisant grâce à des contrôles précis.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Ambiance joyeuse et entraînante, soutenue par une musique 8-bit iconique et des effets sonores classiques (saut, pièce, power-up).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Expérience accessible à tous, procurant plaisir, rythme et progression.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492" y="933450"/>
            <a:ext cx="32689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Character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1052" y="2246993"/>
            <a:ext cx="16428248" cy="595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</a:p>
          <a:p>
            <a:pPr algn="ctr" marL="669351" indent="-334675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Mario : Héros principal du jeu. Courageux et déterminé, il traverse différents mondes pour sauver la princesse Peach. Capable de sauter, casser des blocs et utiliser des power-ups.</a:t>
            </a:r>
          </a:p>
          <a:p>
            <a:pPr algn="ctr" marL="669351" indent="-334675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Princesse Peach : Princesse du Royaume Champignon. Enlevée par Bowser, elle attend d’être sauvée par Mario. Symbole de paix et de bonté.</a:t>
            </a:r>
          </a:p>
          <a:p>
            <a:pPr algn="ctr" marL="669351" indent="-334675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Bowser : Antagoniste principal. Roi des Koopas, puissant et rusé, il retient Peach captive dans son château.</a:t>
            </a:r>
          </a:p>
          <a:p>
            <a:pPr algn="ctr" marL="669351" indent="-334675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Goomba &amp; Koopa Troopa : Ennemis de base du jeu. Serviteurs de Bowser, ils patrouillent les niveaux et constituent les principaux obstacles de Mario.</a:t>
            </a:r>
          </a:p>
          <a:p>
            <a:pPr algn="ctr">
              <a:lnSpc>
                <a:spcPts val="43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255696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4112"/>
            <a:ext cx="16230600" cy="484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368" indent="-329684" lvl="1">
              <a:lnSpc>
                <a:spcPts val="4275"/>
              </a:lnSpc>
              <a:buFont typeface="Arial"/>
              <a:buChar char="•"/>
            </a:pPr>
            <a:r>
              <a:rPr lang="en-US" sz="30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 : Caméra à défilement horizontal (side-scrolling).</a:t>
            </a:r>
          </a:p>
          <a:p>
            <a:pPr algn="ctr" marL="659368" indent="-329684" lvl="1">
              <a:lnSpc>
                <a:spcPts val="4275"/>
              </a:lnSpc>
              <a:buFont typeface="Arial"/>
              <a:buChar char="•"/>
            </a:pPr>
            <a:r>
              <a:rPr lang="en-US" sz="30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Perspective : 2D latérale, centrée principalement sur le personnage de Mario.</a:t>
            </a:r>
          </a:p>
          <a:p>
            <a:pPr algn="ctr" marL="659368" indent="-329684" lvl="1">
              <a:lnSpc>
                <a:spcPts val="4275"/>
              </a:lnSpc>
              <a:buFont typeface="Arial"/>
              <a:buChar char="•"/>
            </a:pPr>
            <a:r>
              <a:rPr lang="en-US" sz="30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Mouvement : La caméra suit Mario sur l’axe horizontal (gauche/droite) et reste centrée sur lui pour garantir une visibilité constante du terrain de jeu.</a:t>
            </a:r>
          </a:p>
          <a:p>
            <a:pPr algn="ctr" marL="659368" indent="-329684" lvl="1">
              <a:lnSpc>
                <a:spcPts val="4275"/>
              </a:lnSpc>
              <a:buFont typeface="Arial"/>
              <a:buChar char="•"/>
            </a:pPr>
            <a:r>
              <a:rPr lang="en-US" sz="30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Limites : La caméra ne recule pas en arrière ; elle avance avec le joueur jusqu’à la fin du niveau.</a:t>
            </a:r>
          </a:p>
          <a:p>
            <a:pPr algn="ctr" marL="659368" indent="-329684" lvl="1">
              <a:lnSpc>
                <a:spcPts val="4275"/>
              </a:lnSpc>
              <a:buFont typeface="Arial"/>
              <a:buChar char="•"/>
            </a:pPr>
            <a:r>
              <a:rPr lang="en-US" sz="30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Objectif : Offrir une vision claire du personnage et des obstacles à venir, assurant un gameplay fluide et lisible.</a:t>
            </a:r>
          </a:p>
          <a:p>
            <a:pPr algn="ctr">
              <a:lnSpc>
                <a:spcPts val="427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3526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1521" y="2291914"/>
            <a:ext cx="17206436" cy="665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Controller</a:t>
            </a: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 : Clavier (périphérique principal).</a:t>
            </a:r>
          </a:p>
          <a:p>
            <a:pPr algn="l">
              <a:lnSpc>
                <a:spcPts val="3762"/>
              </a:lnSpc>
            </a:pP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Contrôles :</a:t>
            </a:r>
          </a:p>
          <a:p>
            <a:pPr algn="l">
              <a:lnSpc>
                <a:spcPts val="3762"/>
              </a:lnSpc>
            </a:pP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Flèche gauche / droite → Déplacement du personnage.</a:t>
            </a: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Flèche haut → Saut.</a:t>
            </a: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Flèche bas → Accroupissement ou entrée dans un tuyau.</a:t>
            </a: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Touche Espace → Tir de boule de feu (avec power-up).</a:t>
            </a: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Touche Échap → Pause / Menu du jeu.</a:t>
            </a:r>
          </a:p>
          <a:p>
            <a:pPr algn="l">
              <a:lnSpc>
                <a:spcPts val="3762"/>
              </a:lnSpc>
            </a:pP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Sensations : Commandes simples, réactives et précises pour un gameplay fluide.</a:t>
            </a:r>
          </a:p>
          <a:p>
            <a:pPr algn="l">
              <a:lnSpc>
                <a:spcPts val="3762"/>
              </a:lnSpc>
            </a:pPr>
            <a:r>
              <a:rPr lang="en-US" sz="26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Accessibilité : Jouable uniquement au clavier, sans souris ; facile à prendre en main pour tout type de joueur.</a:t>
            </a:r>
          </a:p>
          <a:p>
            <a:pPr algn="l">
              <a:lnSpc>
                <a:spcPts val="376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462" y="933450"/>
            <a:ext cx="345408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GameFlow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462" y="2399421"/>
            <a:ext cx="15054619" cy="639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53" indent="-280677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Écran titre / Menu principal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joueur peut démarrer une nouvelle partie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Lancement du niveau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Introduction (musique, décor, position de départ de Mario).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Phase de jeu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joueur contrôle Mario : déplacement, saut, collecte de pièces et combat contre les ennemis.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Mario tombe ou perd toutes ses vies → Game Over.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Mario atteint le drapeau → Niveau terminé.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Transition / Score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Affichage du score total, du temps restant et du nombre de pièces collectées.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Niveau suivant ou fin du jeu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Écran de fin / escape sélectionner la seconde map</a:t>
            </a:r>
          </a:p>
          <a:p>
            <a:pPr algn="just" marL="561353" indent="-280677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Possibilité de rejouer, retourner au menu.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531" y="933450"/>
            <a:ext cx="28906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07684"/>
            <a:ext cx="12423220" cy="502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Défilement horizontal (Side-Scroller) en 2D.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collision entre le joueur, les blocs et les ennemis.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Sauts, déplacements et interactions fluides avec l’environnement.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Collecte d’objets : pièces, power-ups (champignon, fleur de feu, étoile).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vies et de score.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Ennemis variés : Goombas, Koopas.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Effets sonores 8-bit et musique rétro.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Interface simple : affichage du score, des vies et du temps.</a:t>
            </a:r>
          </a:p>
          <a:p>
            <a:pPr algn="just" marL="613477" indent="-306739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Développé entièrement en Java 2D, sans moteur externe.</a:t>
            </a:r>
          </a:p>
          <a:p>
            <a:pPr algn="just">
              <a:lnSpc>
                <a:spcPts val="3978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442" y="933450"/>
            <a:ext cx="411829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Level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4975" y="2297892"/>
            <a:ext cx="14483428" cy="480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 générale :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Niveaux linéaires à défilement horizontal (gauche → droite), composés de plateformes, de blocs destructibles, de tuyaux et d’ennemis.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Chaque niveau se termine par un drapeau ou un château à atteindre.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Progression :</a:t>
            </a:r>
          </a:p>
          <a:p>
            <a:pPr algn="just" marL="518175" indent="-259087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difficulté augmente progressivement :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Niveau 1 : une map pour redécouvrir se jeu excellent qu’est mario bross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 2 </a:t>
            </a: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une map fais sur mesure pour s”ammuser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Éléments de gameplay :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Blocs de pièces et power-ups à découvrir.</a:t>
            </a: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Tuyaux fixe</a:t>
            </a:r>
          </a:p>
          <a:p>
            <a:pPr algn="just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24688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6210"/>
            <a:ext cx="15814437" cy="461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Score : Basé sur le nombre de pièces collectées et les ennemis vaincus.</a:t>
            </a:r>
          </a:p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Vies restantes : Nombre de vies de </a:t>
            </a: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Mario à la fin d’un niveau.</a:t>
            </a:r>
          </a:p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Temps de niveau : Chaque niveau est chronométré pour encourager la rapidité.</a:t>
            </a:r>
          </a:p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Pièces collectées : Indicateur de complétion et bonus de score.</a:t>
            </a:r>
          </a:p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Niveaux terminés / perdus : Suivi de la progression du joueur dans le jeu.</a:t>
            </a:r>
          </a:p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Power-ups utilisés : Nombre et type de bonus utilisés par le joueur (champignon, fleur, ).</a:t>
            </a:r>
          </a:p>
          <a:p>
            <a:pPr algn="l" marL="626122" indent="-31306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Difficulté progressive : Mesurée par le nombre d’ennemis et d’obstacles introduits par niveau.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4390"/>
            <a:ext cx="12117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4826" y="1672535"/>
            <a:ext cx="15939715" cy="768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déplacement : Contrôle précis de Mario (gauche/droite, saut, accroupissement).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collision : </a:t>
            </a: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Gestion des collisions entre Mario, les ennemis, les blocs et les plateformes.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power-ups : Champignon, fleur modifiant l’état et les capacités de Mario.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d’ennemis : Goombas et Koopas, comportements réactifs (déplacement, attaque, interaction avec Mario).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scoring : Calcul basé sur pièces collectées, ennemis vaincus et temps restant.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progression : Niveaux successifs avec difficulté croissante et boss final (Bowser).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de caméra : Suivi de Mario en défilement horizontal avec limites de niveau.</a:t>
            </a:r>
          </a:p>
          <a:p>
            <a:pPr algn="l">
              <a:lnSpc>
                <a:spcPts val="3587"/>
              </a:lnSpc>
            </a:pPr>
          </a:p>
          <a:p>
            <a:pPr algn="l" marL="553214" indent="-276607" lvl="1">
              <a:lnSpc>
                <a:spcPts val="3587"/>
              </a:lnSpc>
              <a:buFont typeface="Arial"/>
              <a:buChar char="•"/>
            </a:pPr>
            <a:r>
              <a:rPr lang="en-US" sz="256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Système audio : Musique de fond, effets sonores pour sauts, collecte de pièces et power-ups.</a:t>
            </a:r>
          </a:p>
          <a:p>
            <a:pPr algn="l">
              <a:lnSpc>
                <a:spcPts val="3587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17148" y="4652327"/>
            <a:ext cx="18537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DAG3pStDSME</dc:identifier>
  <dcterms:modified xsi:type="dcterms:W3CDTF">2011-08-01T06:04:30Z</dcterms:modified>
  <cp:revision>1</cp:revision>
  <dc:title>MGDD Super Mario Bross</dc:title>
</cp:coreProperties>
</file>